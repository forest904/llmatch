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LLMATCH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Wang et al. · arXiv:2507.10897v1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10515600" cy="1325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142A3C"/>
                </a:solidFill>
                <a:latin typeface="Segoe UI"/>
              </a:defRPr>
            </a:pPr>
            <a:r>
              <a:t>Schema matching multi-tabella con Large Language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27832"/>
            <a:ext cx="9875520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07B83"/>
                </a:solidFill>
                <a:latin typeface="Segoe UI"/>
              </a:defRPr>
            </a:pPr>
            <a:r>
              <a:t>Un framework modulare che usa Rollup e Drilldown per allineare schemi relazionali complessi.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36592"/>
            <a:ext cx="1069848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05D67"/>
                </a:solidFill>
                <a:latin typeface="Segoe UI"/>
              </a:defRPr>
            </a:pPr>
            <a:r>
              <a:t>Sha Wang · Yuchen Li · Hanhua Xiao · Bing Tian Dai · Roy Ka-Wei Lee · Yanfei Dong · Lambert Deng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22392"/>
            <a:ext cx="9875520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505D67"/>
                </a:solidFill>
                <a:latin typeface="Segoe UI"/>
              </a:defRPr>
            </a:pPr>
            <a:r>
              <a:t>Problema  ·  Metodo  ·  Evidenza sperimentale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Il significato di una colonna dipende dallo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Fig. 1 e §1–3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02</a:t>
            </a:r>
          </a:p>
        </p:txBody>
      </p:sp>
      <p:pic>
        <p:nvPicPr>
          <p:cNvPr id="7" name="Picture 6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12147"/>
            <a:ext cx="6720840" cy="4392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865376"/>
            <a:ext cx="3749039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07B83"/>
                </a:solidFill>
                <a:latin typeface="Segoe UI"/>
              </a:defRPr>
            </a:pPr>
            <a:r>
              <a:t>Person.address ≠ ShopInfo.address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697480"/>
            <a:ext cx="3794760" cy="3017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Nomi simili possono indicare entità diverse.</a:t>
            </a:r>
          </a:p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PK/FK e struttura delle tabelle chiariscono il contesto.</a:t>
            </a:r>
          </a:p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</a:p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I mapping reali possono essere n:m.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Tre stadi per il matching complesso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Fig. 2 e §4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771632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2A3C"/>
                </a:solidFill>
                <a:latin typeface="Segoe UI"/>
              </a:defRPr>
            </a:pPr>
            <a:r>
              <a:t>Schema Preparation organizza nomi, descrizioni e relazioni PK/FK; Table Selection restringe i candidati; Column Matching produce i mapping.</a:t>
            </a:r>
          </a:p>
        </p:txBody>
      </p:sp>
      <p:pic>
        <p:nvPicPr>
          <p:cNvPr id="8" name="Picture 7" descr="Fig2.png"/>
          <p:cNvPicPr>
            <a:picLocks noChangeAspect="1"/>
          </p:cNvPicPr>
          <p:nvPr/>
        </p:nvPicPr>
        <p:blipFill>
          <a:blip r:embed="rId2"/>
          <a:srcRect b="15500"/>
          <a:stretch>
            <a:fillRect/>
          </a:stretch>
        </p:blipFill>
        <p:spPr>
          <a:xfrm>
            <a:off x="694944" y="2941574"/>
            <a:ext cx="10771632" cy="27670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062472"/>
            <a:ext cx="107899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7B83"/>
                </a:solidFill>
                <a:latin typeface="Segoe UI"/>
              </a:defRPr>
            </a:pPr>
            <a:r>
              <a:t>Il focus pairwise dei metodi precedenti perde parte del contesto multi-tabella.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Rollup: un’astrazione tracciabile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Fig. 3 e §4.1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481328"/>
            <a:ext cx="1065276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2A3C"/>
                </a:solidFill>
                <a:latin typeface="Segoe UI"/>
              </a:defRPr>
            </a:pPr>
            <a:r>
              <a:t>L’LLM raggruppa colonne semanticamente correlate in un alias temporaneo.</a:t>
            </a:r>
          </a:p>
        </p:txBody>
      </p:sp>
      <p:pic>
        <p:nvPicPr>
          <p:cNvPr id="8" name="Picture 7" descr="Fig3.png"/>
          <p:cNvPicPr>
            <a:picLocks noChangeAspect="1"/>
          </p:cNvPicPr>
          <p:nvPr/>
        </p:nvPicPr>
        <p:blipFill>
          <a:blip r:embed="rId2"/>
          <a:srcRect b="38500"/>
          <a:stretch>
            <a:fillRect/>
          </a:stretch>
        </p:blipFill>
        <p:spPr>
          <a:xfrm>
            <a:off x="685800" y="2567627"/>
            <a:ext cx="10835640" cy="28291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961888"/>
            <a:ext cx="1069848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7B83"/>
                </a:solidFill>
                <a:latin typeface="Segoe UI"/>
              </a:defRPr>
            </a:pPr>
            <a:r>
              <a:t>currency, currency_code e currency_id → currency_meta_data; gli originali restano recuperabili.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Table Selection: quante tabelle arrivano al matcher?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§4.2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09344"/>
            <a:ext cx="2148840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7B83"/>
                </a:solidFill>
                <a:latin typeface="Segoe UI"/>
              </a:defRPr>
            </a:pPr>
            <a:r>
              <a:t>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1609344"/>
            <a:ext cx="5641848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7B83"/>
                </a:solidFill>
                <a:latin typeface="Segoe UI"/>
              </a:defRPr>
            </a:pPr>
            <a:r>
              <a:t>Criterio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5088" y="1609344"/>
            <a:ext cx="2560320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7B83"/>
                </a:solidFill>
                <a:latin typeface="Segoe UI"/>
              </a:defRPr>
            </a:pPr>
            <a:r>
              <a:t>Effetto sul 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11680"/>
            <a:ext cx="10607040" cy="22860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67712"/>
            <a:ext cx="216712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A3C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267712"/>
            <a:ext cx="5632704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Tutte le tabelle target in un unico contesto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267712"/>
            <a:ext cx="257860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05D67"/>
                </a:solidFill>
                <a:latin typeface="Segoe UI"/>
              </a:defRPr>
            </a:pPr>
            <a:r>
              <a:t>Contesto esteso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935224"/>
            <a:ext cx="10607040" cy="22860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90672"/>
            <a:ext cx="216712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A3C"/>
                </a:solidFill>
                <a:latin typeface="Segoe UI"/>
              </a:defRPr>
            </a:pPr>
            <a:r>
              <a:t>Nested 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090672"/>
            <a:ext cx="5632704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Un confronto per ogni coppia source–target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090672"/>
            <a:ext cx="257860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05D67"/>
                </a:solidFill>
                <a:latin typeface="Segoe UI"/>
              </a:defRPr>
            </a:pPr>
            <a:r>
              <a:t>Contesto minimo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758183"/>
            <a:ext cx="10607040" cy="22860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913632"/>
            <a:ext cx="216712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A3C"/>
                </a:solidFill>
                <a:latin typeface="Segoe UI"/>
              </a:defRPr>
            </a:pPr>
            <a:r>
              <a:t>Vector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3913632"/>
            <a:ext cx="5632704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Top-k secondo similarità degli embedding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913632"/>
            <a:ext cx="257860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05D67"/>
                </a:solidFill>
                <a:latin typeface="Segoe UI"/>
              </a:defRPr>
            </a:pPr>
            <a:r>
              <a:t>Filtro lessicale/semantico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581144"/>
            <a:ext cx="10607040" cy="22860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736592"/>
            <a:ext cx="216712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A3C"/>
                </a:solidFill>
                <a:latin typeface="Segoe UI"/>
              </a:defRPr>
            </a:pPr>
            <a:r>
              <a:t>LLM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4736592"/>
            <a:ext cx="5632704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L’LLM sceglie dalle descrizioni delle tabelle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736592"/>
            <a:ext cx="2578608" cy="6583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05D67"/>
                </a:solidFill>
                <a:latin typeface="Segoe UI"/>
              </a:defRPr>
            </a:pPr>
            <a:r>
              <a:t>Filtro contestuale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404104"/>
            <a:ext cx="10607040" cy="22860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879592"/>
            <a:ext cx="105613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07B83"/>
                </a:solidFill>
                <a:latin typeface="Segoe UI"/>
              </a:defRPr>
            </a:pPr>
            <a:r>
              <a:t>La scelta bilancia dimensione del contesto e rischio di escludere match validi.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Drilldown: dal match grossolano alle colonne finali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Fig. 3 e §4.3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481328"/>
            <a:ext cx="10698480" cy="868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42A3C"/>
                </a:solidFill>
                <a:latin typeface="Segoe UI"/>
              </a:defRPr>
            </a:pPr>
            <a:r>
              <a:t>Il matching iniziale può coinvolgere un alias creato da Rollup. Drilldown riapre solo quel gruppo e rivaluta le colonne originali.</a:t>
            </a:r>
          </a:p>
        </p:txBody>
      </p:sp>
      <p:pic>
        <p:nvPicPr>
          <p:cNvPr id="8" name="Picture 7" descr="Fig3.png"/>
          <p:cNvPicPr>
            <a:picLocks noChangeAspect="1"/>
          </p:cNvPicPr>
          <p:nvPr/>
        </p:nvPicPr>
        <p:blipFill>
          <a:blip r:embed="rId2"/>
          <a:srcRect t="39000"/>
          <a:stretch>
            <a:fillRect/>
          </a:stretch>
        </p:blipFill>
        <p:spPr>
          <a:xfrm>
            <a:off x="685800" y="2812299"/>
            <a:ext cx="10835640" cy="2806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6053328"/>
            <a:ext cx="106984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7B83"/>
                </a:solidFill>
                <a:latin typeface="Segoe UI"/>
              </a:defRPr>
            </a:pPr>
            <a:r>
              <a:t>bal_currency → currency e currency_code; currency_id non è necessariamente incluso.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SchemaNet mette alla prova schemi relazionali complessi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Tab. 1 e §5–6.2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72184"/>
            <a:ext cx="1065276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7B83"/>
                </a:solidFill>
                <a:latin typeface="Segoe UI"/>
              </a:defRPr>
            </a:pPr>
            <a:r>
              <a:t>7 coppie source–target  ·  healthcare, finance, entertainment  ·  F1 come metrica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84831"/>
            <a:ext cx="1069848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42A3C"/>
                </a:solidFill>
                <a:latin typeface="Segoe UI"/>
              </a:defRPr>
            </a:pPr>
            <a:r>
              <a:t>mimic_iii → omop: 26 tabelle e 324 colonne → 39 tabelle e 432 colonne; 189 mapping.</a:t>
            </a:r>
          </a:p>
        </p:txBody>
      </p:sp>
      <p:pic>
        <p:nvPicPr>
          <p:cNvPr id="9" name="Picture 8" descr="Tab1.png"/>
          <p:cNvPicPr>
            <a:picLocks noChangeAspect="1"/>
          </p:cNvPicPr>
          <p:nvPr/>
        </p:nvPicPr>
        <p:blipFill>
          <a:blip r:embed="rId2"/>
          <a:srcRect t="20000"/>
          <a:stretch>
            <a:fillRect/>
          </a:stretch>
        </p:blipFill>
        <p:spPr>
          <a:xfrm>
            <a:off x="2329921" y="2761488"/>
            <a:ext cx="7401093" cy="2852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806440"/>
            <a:ext cx="10634472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05D67"/>
                </a:solidFill>
                <a:latin typeface="Segoe UI"/>
              </a:defRPr>
            </a:pPr>
            <a:r>
              <a:t>Baseline: Coma, SF, Cupid, Unicorn, ReMatch. Modelli: GPT-3.5-turbo e GPT-4o-mini; SBERT per embedding; nessun fine-tuning.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Il vantaggio emerge nei task complessi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Tab. 2 e §6.4. Per mimic_iii-omop si usa il valore 0,33 della tabella; il testo riporta 0,4.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106984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7B83"/>
                </a:solidFill>
                <a:latin typeface="Segoe UI"/>
              </a:defRPr>
            </a:pPr>
            <a:r>
              <a:t>mimic_iii → omop ·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12264"/>
            <a:ext cx="2514600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142A3C"/>
                </a:solidFill>
                <a:latin typeface="Segoe UI"/>
              </a:defRPr>
            </a:pPr>
            <a:r>
              <a:t>0,04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514600" cy="694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142A3C"/>
                </a:solidFill>
                <a:latin typeface="Segoe UI"/>
              </a:defRPr>
            </a:pPr>
            <a:r>
              <a:t>Coma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112264"/>
            <a:ext cx="2514600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142A3C"/>
                </a:solidFill>
                <a:latin typeface="Segoe UI"/>
              </a:defRPr>
            </a:pPr>
            <a:r>
              <a:t>0,09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971800"/>
            <a:ext cx="2514600" cy="694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142A3C"/>
                </a:solidFill>
                <a:latin typeface="Segoe UI"/>
              </a:defRPr>
            </a:pPr>
            <a:r>
              <a:t>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112264"/>
            <a:ext cx="2514600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142A3C"/>
                </a:solidFill>
                <a:latin typeface="Segoe UI"/>
              </a:defRPr>
            </a:pPr>
            <a:r>
              <a:t>0,20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971800"/>
            <a:ext cx="2514600" cy="694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142A3C"/>
                </a:solidFill>
                <a:latin typeface="Segoe UI"/>
              </a:defRPr>
            </a:pPr>
            <a:r>
              <a:t>ReMatch GPT-4o-mini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5984" y="2112264"/>
            <a:ext cx="2514600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107B83"/>
                </a:solidFill>
                <a:latin typeface="Segoe UI"/>
              </a:defRPr>
            </a:pPr>
            <a:r>
              <a:t>0,33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971800"/>
            <a:ext cx="2514600" cy="6949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142A3C"/>
                </a:solidFill>
                <a:latin typeface="Segoe UI"/>
              </a:defRPr>
            </a:pPr>
            <a:r>
              <a:t>LLMATCH GPT-4o-mini</a:t>
            </a:r>
          </a:p>
        </p:txBody>
      </p:sp>
      <p:pic>
        <p:nvPicPr>
          <p:cNvPr id="16" name="Picture 15" descr="Tab2.png"/>
          <p:cNvPicPr>
            <a:picLocks noChangeAspect="1"/>
          </p:cNvPicPr>
          <p:nvPr/>
        </p:nvPicPr>
        <p:blipFill>
          <a:blip r:embed="rId2"/>
          <a:srcRect t="20000" b="8000"/>
          <a:stretch>
            <a:fillRect/>
          </a:stretch>
        </p:blipFill>
        <p:spPr>
          <a:xfrm>
            <a:off x="1602545" y="3950208"/>
            <a:ext cx="8983860" cy="2130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144768"/>
            <a:ext cx="106070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05D67"/>
                </a:solidFill>
                <a:latin typeface="Segoe UI"/>
              </a:defRPr>
            </a:pPr>
            <a:r>
              <a:t>bank1-bank2 è un’eccezione: il vocabolario condiviso favorisce anche i matcher lessicali.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I moduli incidono soprattutto sui casi complessi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Tab. 3, Fig. 5–6 e §6.5–6.7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02920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7B83"/>
                </a:solidFill>
                <a:latin typeface="Segoe UI"/>
              </a:defRPr>
            </a:pPr>
            <a:r>
              <a:t>Table Selection · Tab.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498348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A3C"/>
                </a:solidFill>
                <a:latin typeface="Segoe UI"/>
              </a:defRPr>
            </a:pPr>
            <a:r>
              <a:t>mimic_iii–omop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41448"/>
            <a:ext cx="4983480" cy="960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42A3C"/>
                </a:solidFill>
                <a:latin typeface="Segoe UI"/>
              </a:defRPr>
            </a:pPr>
            <a:r>
              <a:t>LLM: F1 0,33 con 6,9 tabelle</a:t>
            </a:r>
          </a:p>
          <a:p>
            <a:pPr>
              <a:spcAft>
                <a:spcPts val="700"/>
              </a:spcAft>
              <a:defRPr sz="1700" b="0">
                <a:solidFill>
                  <a:srgbClr val="142A3C"/>
                </a:solidFill>
                <a:latin typeface="Segoe UI"/>
              </a:defRPr>
            </a:pPr>
            <a:r>
              <a:t>Vector Similarity top 10: F1 0,25 con 10 tabelle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03904"/>
            <a:ext cx="498348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A3C"/>
                </a:solidFill>
                <a:latin typeface="Segoe UI"/>
              </a:defRPr>
            </a:pPr>
            <a:r>
              <a:t>synthea–omop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33672"/>
            <a:ext cx="4983480" cy="960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42A3C"/>
                </a:solidFill>
                <a:latin typeface="Segoe UI"/>
              </a:defRPr>
            </a:pPr>
            <a:r>
              <a:t>LLM: F1 0,37 con 4,7 tabelle</a:t>
            </a:r>
          </a:p>
          <a:p>
            <a:pPr>
              <a:spcAft>
                <a:spcPts val="700"/>
              </a:spcAft>
              <a:defRPr sz="1700" b="0">
                <a:solidFill>
                  <a:srgbClr val="142A3C"/>
                </a:solidFill>
                <a:latin typeface="Segoe UI"/>
              </a:defRPr>
            </a:pPr>
            <a:r>
              <a:t>Vector Similarity top 10: F1 0,29 con 10 tabelle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490472"/>
            <a:ext cx="498348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7B83"/>
                </a:solidFill>
                <a:latin typeface="Segoe UI"/>
              </a:defRPr>
            </a:pPr>
            <a:r>
              <a:t>Rollup / Drilldown · Fig.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920240"/>
            <a:ext cx="498348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42A3C"/>
                </a:solidFill>
                <a:latin typeface="Segoe UI"/>
              </a:defRPr>
            </a:pPr>
            <a:r>
              <a:t>Il guadagno cresce sugli schemi più frammentati e relazionali.</a:t>
            </a:r>
          </a:p>
        </p:txBody>
      </p:sp>
      <p:pic>
        <p:nvPicPr>
          <p:cNvPr id="14" name="Picture 13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3004346"/>
            <a:ext cx="5166360" cy="26598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" y="5897880"/>
            <a:ext cx="105613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505D67"/>
                </a:solidFill>
                <a:latin typeface="Segoe UI"/>
              </a:defRPr>
            </a:pPr>
            <a:r>
              <a:t>Descrizioni e relazioni PK/FK migliorano ulteriormente l’F1 (Fig. 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927080" cy="7863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42A3C"/>
                </a:solidFill>
                <a:latin typeface="Segoe UI"/>
              </a:defRPr>
            </a:pPr>
            <a:r>
              <a:t>Evidenza promettente, generalizzazione ancora aperta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52728"/>
            <a:ext cx="10881360" cy="16459"/>
          </a:xfrm>
          <a:prstGeom prst="rect">
            <a:avLst/>
          </a:prstGeom>
          <a:solidFill>
            <a:srgbClr val="E0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05D67"/>
                </a:solidFill>
                <a:latin typeface="Segoe UI"/>
              </a:defRPr>
            </a:pPr>
            <a:r>
              <a:t>Fonte: Wang et al., Fig. 7–8 e §6.8–7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84048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05D6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27048"/>
            <a:ext cx="32918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7B83"/>
                </a:solidFill>
                <a:latin typeface="Segoe UI"/>
              </a:defRPr>
            </a:pPr>
            <a:r>
              <a:t>Contesto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38528"/>
            <a:ext cx="3429000" cy="1097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Finestre troppo piccole frammentano il task e riducono l’F1.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527048"/>
            <a:ext cx="32918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7B83"/>
                </a:solidFill>
                <a:latin typeface="Segoe UI"/>
              </a:defRPr>
            </a:pPr>
            <a:r>
              <a:t>Assistenza umana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38528"/>
            <a:ext cx="3429000" cy="1097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F1 medio 0,14 → 0,58 in task da 2 minuti, su 4 partecipanti.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27048"/>
            <a:ext cx="32918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07B83"/>
                </a:solidFill>
                <a:latin typeface="Segoe UI"/>
              </a:defRPr>
            </a:pPr>
            <a:r>
              <a:t>Questioni aperte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938528"/>
            <a:ext cx="3246120" cy="10972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2A3C"/>
                </a:solidFill>
                <a:latin typeface="Segoe UI"/>
              </a:defRPr>
            </a:pPr>
            <a:r>
              <a:t>Non-determinismo, campione ridotto e domini non rappresentati.</a:t>
            </a:r>
          </a:p>
        </p:txBody>
      </p:sp>
      <p:pic>
        <p:nvPicPr>
          <p:cNvPr id="13" name="Picture 12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66670"/>
            <a:ext cx="5175504" cy="1048203"/>
          </a:xfrm>
          <a:prstGeom prst="rect">
            <a:avLst/>
          </a:prstGeom>
        </p:spPr>
      </p:pic>
      <p:pic>
        <p:nvPicPr>
          <p:cNvPr id="14" name="Picture 13" descr="Fi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097" y="3246120"/>
            <a:ext cx="2922893" cy="2642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" y="5961888"/>
            <a:ext cx="10698480" cy="4754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7B83"/>
                </a:solidFill>
                <a:latin typeface="Segoe UI"/>
              </a:defRPr>
            </a:pPr>
            <a:r>
              <a:t>LLMATCH convince sui task complessi; riproducibilità e uso pratico richiedono verifiche più ampie.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